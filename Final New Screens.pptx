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notesMasterIdLst>
    <p:notesMasterId r:id="rId46"/>
  </p:notesMasterIdLst>
  <p:sldIdLst>
    <p:sldId id="256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99" r:id="rId16"/>
    <p:sldId id="279" r:id="rId17"/>
    <p:sldId id="280" r:id="rId18"/>
    <p:sldId id="257" r:id="rId19"/>
    <p:sldId id="258" r:id="rId20"/>
    <p:sldId id="259" r:id="rId21"/>
    <p:sldId id="260" r:id="rId22"/>
    <p:sldId id="261" r:id="rId23"/>
    <p:sldId id="262" r:id="rId24"/>
    <p:sldId id="300" r:id="rId25"/>
    <p:sldId id="264" r:id="rId26"/>
    <p:sldId id="265" r:id="rId27"/>
    <p:sldId id="281" r:id="rId28"/>
    <p:sldId id="282" r:id="rId29"/>
    <p:sldId id="283" r:id="rId30"/>
    <p:sldId id="301" r:id="rId31"/>
    <p:sldId id="302" r:id="rId32"/>
    <p:sldId id="286" r:id="rId33"/>
    <p:sldId id="287" r:id="rId34"/>
    <p:sldId id="288" r:id="rId35"/>
    <p:sldId id="289" r:id="rId36"/>
    <p:sldId id="290" r:id="rId37"/>
    <p:sldId id="291" r:id="rId38"/>
    <p:sldId id="303" r:id="rId39"/>
    <p:sldId id="304" r:id="rId40"/>
    <p:sldId id="305" r:id="rId41"/>
    <p:sldId id="295" r:id="rId42"/>
    <p:sldId id="296" r:id="rId43"/>
    <p:sldId id="297" r:id="rId44"/>
    <p:sldId id="298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97A614-C1E6-6136-28D0-699EC3727F8E}" v="2" dt="2026-08-20T06:19:16.4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microsoft.com/office/2016/11/relationships/changesInfo" Target="changesInfos/changesInfo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sanna Borate" userId="S::prasanna.borate@finaryatech.com::9638dd8c-f2d5-42a4-8692-1af56f5f66e4" providerId="AD" clId="Web-{5D97A614-C1E6-6136-28D0-699EC3727F8E}"/>
    <pc:docChg chg="modSld">
      <pc:chgData name="Prasanna Borate" userId="S::prasanna.borate@finaryatech.com::9638dd8c-f2d5-42a4-8692-1af56f5f66e4" providerId="AD" clId="Web-{5D97A614-C1E6-6136-28D0-699EC3727F8E}" dt="2026-08-20T06:19:16.430" v="1" actId="1076"/>
      <pc:docMkLst>
        <pc:docMk/>
      </pc:docMkLst>
      <pc:sldChg chg="modSp">
        <pc:chgData name="Prasanna Borate" userId="S::prasanna.borate@finaryatech.com::9638dd8c-f2d5-42a4-8692-1af56f5f66e4" providerId="AD" clId="Web-{5D97A614-C1E6-6136-28D0-699EC3727F8E}" dt="2026-08-20T06:19:16.430" v="1" actId="1076"/>
        <pc:sldMkLst>
          <pc:docMk/>
          <pc:sldMk cId="0" sldId="296"/>
        </pc:sldMkLst>
        <pc:picChg chg="mod">
          <ac:chgData name="Prasanna Borate" userId="S::prasanna.borate@finaryatech.com::9638dd8c-f2d5-42a4-8692-1af56f5f66e4" providerId="AD" clId="Web-{5D97A614-C1E6-6136-28D0-699EC3727F8E}" dt="2026-08-20T06:19:16.430" v="1" actId="1076"/>
          <ac:picMkLst>
            <pc:docMk/>
            <pc:sldMk cId="0" sldId="296"/>
            <ac:picMk id="1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5B75F1-C0BE-4ED8-85DF-F56EE6E5D775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DEE050-F066-418F-9A11-A323286B1A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180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65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259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190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388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363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4127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413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560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585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4551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747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539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994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6405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19/08/2026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162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MyAssignedEntities_Prototype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MyAssignedEntities_Prototype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://finarya_listmyassignedentities_prototype.html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MyAssignedEntities_Prototype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MyAssignedEntities_Prototype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MyAssignedEntities_Prototype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narya_PerformAudit_Prototype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Finarya_PerformAudit_Prototype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narya_PerformAudit_Prototype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Finarya_PerformAudit_Prototype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Finarya_PerformAudit_Prototype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Finarya_PerformAudit_Prototype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Finarya_PerformAudit_Prototype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Finarya_PerformAudit_Prototype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Finarya_PerformAudit_Prototype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Finarya_PerformAudit_Prototype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Finarya_PerformAudit_Prototype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Finarya_ReviewAudit_Prototype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Finarya_ReviewAudit_Prototype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Finarya_ReviewAudit_Prototype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Finarya_ReviewAudit_Prototype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Finarya_ReviewAudit_Prototype.html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Finarya_ReviewAudit_Prototype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Finarya_ReviewAudit_Prototype.htm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Finarya_ReviewAudit_Prototype.html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Finarya_ReviewAudit_Prototype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OpenObservations_Prototype.html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OpenObservations_Prototype.html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OpenObservations_Prototype.html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OpenObservations_Prototype.html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OpenObservations_Prototype.html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OpenObservations_Prototype.html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OpenObservations_Prototype.html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OpenObservations_Prototype.html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ClosedObservations_Prototype.html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ClosedObservations_Prototype.html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ClosedObservations_Prototype.html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ClosedObservations_Prototype.html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ClosedObservations_Prototype.html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ClosedObservations_Prototype.html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AllEntities_Prototype.html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AllEntities_Prototype.html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AllEntities_Prototype.html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Finarya_ListAllEntities_Prototype.html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6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40080" y="640080"/>
            <a:ext cx="457200" cy="457200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3" name="Text 1"/>
          <p:cNvSpPr/>
          <p:nvPr/>
        </p:nvSpPr>
        <p:spPr>
          <a:xfrm>
            <a:off x="1234440" y="566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List My Assigned Entities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Screen mock-up set — Audit landing page, ticket-based branch list, in Populated, Search and Empty states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EC400"/>
          </a:solidFill>
          <a:ln/>
        </p:spPr>
      </p:sp>
      <p:sp>
        <p:nvSpPr>
          <p:cNvPr id="7" name="Text 5">
            <a:hlinkClick r:id="rId3" tooltip="Open Finarya_ListMyAssignedEntities_Prototype.html"/>
          </p:cNvPr>
          <p:cNvSpPr/>
          <p:nvPr/>
        </p:nvSpPr>
        <p:spPr>
          <a:xfrm>
            <a:off x="822960" y="42062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sng" strike="noStrike" kern="1200" cap="none" spc="0" normalizeH="0" baseline="0" noProof="0">
                <a:ln>
                  <a:noFill/>
                </a:ln>
                <a:solidFill>
                  <a:srgbClr val="016EB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ListMyAssignedEntities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HTML prototype ↗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AFC6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Keep this PPTX and Finarya_ListMyAssignedEntities_Prototype.html in the same folder for the link above to open correctly.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AFC6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Brand colours used: #016EBA · #1375BE · #FEC400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06240" y="9144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My Assigned Entities — Populated (Auditor)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0" y="40233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Ticket-based branch grid · search bar · Perform Audit + Review Audit actions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ListMyAssignedEntities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/>
                <a:ea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protoxtype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entities-auditor-populat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06240" y="9144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My Assigned Entities — Search Active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0" y="40233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Live filter across Branch Code, Branch Name and Branch Address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ListMyAssignedEntities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ListMyAssignedEntities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entities-search-activ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06240" y="9144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My Assigned Entities — Populated (Audit Manager)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0" y="40233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Review Audit only — Perform Audit hidden for the Audit Manager role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ListMyAssignedEntities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ListMyAssignedEntities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entities-manager-populat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06240" y="9144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My Assigned Entities — Empty State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06240" y="40233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branches mapped to the logged-in user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ListMyAssignedEntities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ListMyAssignedEntities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entities-empty-stat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6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40080" y="640080"/>
            <a:ext cx="457200" cy="457200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3" name="Text 1"/>
          <p:cNvSpPr/>
          <p:nvPr/>
        </p:nvSpPr>
        <p:spPr>
          <a:xfrm>
            <a:off x="1234440" y="566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Perform Audit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Screen mock-up set — tab-based audit workflow: Geo Tag, Branch Details, Open / Closed Observations, Detailed Observations, Summary, and key action dialogs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EC400"/>
          </a:solidFill>
          <a:ln/>
        </p:spPr>
      </p:sp>
      <p:sp>
        <p:nvSpPr>
          <p:cNvPr id="7" name="Text 5">
            <a:hlinkClick r:id="rId3" tooltip="Open Finarya_PerformAudit_Prototype.html"/>
          </p:cNvPr>
          <p:cNvSpPr/>
          <p:nvPr/>
        </p:nvSpPr>
        <p:spPr>
          <a:xfrm>
            <a:off x="822960" y="41605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sng" strike="noStrike" kern="1200" cap="none" spc="0" normalizeH="0" baseline="0" noProof="0">
                <a:ln>
                  <a:noFill/>
                </a:ln>
                <a:solidFill>
                  <a:srgbClr val="016EB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PerformAudit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HTML prototype ↗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AFC6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Keep this PPTX and Finarya_PerformAudit_Prototype.html in the same folder for the link above to open correctly.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AFC6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Brand colours used: #016EBA · #1375BE · #FEC400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1. Geo Tag — Locked State</a:t>
            </a:r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 subsequent tabs disabled until location is captured</a:t>
            </a:r>
            <a:endParaRPr kumimoji="0" lang="en-US" sz="9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PerformAudit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PerformAudit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1-geo-lock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1. Geo Tag — Captured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Latitude, longitude and timestamp captured read-only · Retag available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PerformAudit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PerformAudit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2-geo-captur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2. Branch Details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Read-only branch information, unlocked after geo-tag capture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PerformAudit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PerformAudit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3-branch-detail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3. Open Observations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Paginated table · column search · date range · Excel export · bulk download/upload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PerformAudit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PerformAudit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4-open-observation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3a. View Observation — Dialog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Read-only popup with full observation and attachment details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PerformAudit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PerformAudit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5-view-moda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3b. Perform Observation — Dialog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Informed to Branch, Action Taken and attachment — submission closes the observation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PerformAudit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PerformAudit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6-perform-moda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4. Closed Observations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View-only history of closed observations for the branch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PerformAudit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PerformAudit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7-closed-observation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5. Detailed Observations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Voucher entry, category checklist and running list of recorded observations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PerformAudit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PerformAudit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8-detailed-observation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6. Summary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Category values plus Cash and ATM denomination with auto-calculated total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PerformAudit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PerformAudit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9-summar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 — Download Prompt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Post-submission confirmation to download generated Open Observations for bulk closure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PerformAudit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PerformAudit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10-submit-confir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6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40080" y="640080"/>
            <a:ext cx="457200" cy="457200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3" name="Text 1"/>
          <p:cNvSpPr/>
          <p:nvPr/>
        </p:nvSpPr>
        <p:spPr>
          <a:xfrm>
            <a:off x="1234440" y="566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Review Audit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Screen mock-up set — role-based audit history listing, plus the read-only Audit View reusing the Perform Audit tab layout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EC400"/>
          </a:solidFill>
          <a:ln/>
        </p:spPr>
      </p:sp>
      <p:sp>
        <p:nvSpPr>
          <p:cNvPr id="7" name="Text 5">
            <a:hlinkClick r:id="rId3" tooltip="Open Finarya_ReviewAudit_Prototype.html"/>
          </p:cNvPr>
          <p:cNvSpPr/>
          <p:nvPr/>
        </p:nvSpPr>
        <p:spPr>
          <a:xfrm>
            <a:off x="822960" y="41605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sng" strike="noStrike" kern="1200" cap="none" spc="0" normalizeH="0" baseline="0" noProof="0">
                <a:ln>
                  <a:noFill/>
                </a:ln>
                <a:solidFill>
                  <a:srgbClr val="016EB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ReviewAudit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HTML prototype ↗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AFC6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Keep this PPTX and Finarya_ReviewAudit_Prototype.html in the same folder for the link above to open correctly.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AFC6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Brand colours used: #016EBA · #1375BE · #FEC400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Review Audit — List (Administrator / Audit Manager)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Branch filter visible · From/To date, search and Excel download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ReviewAudit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ReviewAudit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1-list-manag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Review Audit — List (Auditor)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Branch filter — scoped automatically to assigned branches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ReviewAudit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ReviewAudit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2-list-audito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Audit View — Geo Tag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Read-only banner · latitude, longitude and capture timestamp as recorded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ReviewAudit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ReviewAudit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3-view-geo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Audit View — Branch Details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Branch information exactly as captured at the time of audit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ReviewAudit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ReviewAudit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4-view-branch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Audit View — Open Observations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generated by this audit, read-only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ReviewAudit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ReviewAudit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5-view-ope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Audit View — Observation Detail with Audit Trail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observation detail plus a chronological audit trail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ReviewAudit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ReviewAudit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6-view-open-modal-trai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Audit View — Closed Observations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Closed observations tied to this audit, read-only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ReviewAudit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ReviewAudit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7-view-clos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Audit View — Detailed Observations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Voucher-wise observations with violated checkpoints and remarks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ReviewAudit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ReviewAudit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8-view-detail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6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40080" y="640080"/>
            <a:ext cx="457200" cy="457200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3" name="Text 1"/>
          <p:cNvSpPr/>
          <p:nvPr/>
        </p:nvSpPr>
        <p:spPr>
          <a:xfrm>
            <a:off x="1234440" y="566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Open Observations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Screen mock-up set — role-based observation grid, individual View/Perform actions, and the Bulk Download / Bulk Upload closure workflow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EC400"/>
          </a:solidFill>
          <a:ln/>
        </p:spPr>
      </p:sp>
      <p:sp>
        <p:nvSpPr>
          <p:cNvPr id="7" name="Text 5">
            <a:hlinkClick r:id="rId3" tooltip="Open Finarya_ListOpenObservations_Prototype.html"/>
          </p:cNvPr>
          <p:cNvSpPr/>
          <p:nvPr/>
        </p:nvSpPr>
        <p:spPr>
          <a:xfrm>
            <a:off x="822960" y="41605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sng" strike="noStrike" kern="1200" cap="none" spc="0" normalizeH="0" baseline="0" noProof="0">
                <a:ln>
                  <a:noFill/>
                </a:ln>
                <a:solidFill>
                  <a:srgbClr val="016EB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ListOpenObservations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HTML prototype ↗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AFC6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Keep this PPTX and Finarya_ListOpenObservations_Prototype.html in the same folder for the link above to open correctly.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AFC6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Brand colours used: #016EBA · #1375BE · #FEC400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Open Observations — Auditor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Full toolbar — Excel Download, Bulk Download, Bulk Upload, View + Perform actions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ListOpenObservations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ListOpenObservations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1-list-audito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Open Observations — Administrator / Audit Manager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View-only access; Bulk Download/Upload hidden — Branch filter scoped to role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ListOpenObservations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ListOpenObservations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2-list-manag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View Observation — Dialog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Read-only popup with full observation and attachment details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ListOpenObservations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ListOpenObservations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3-view-moda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Perform Observation — Dialog (Auditor only)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Informed to Branch, Action Taken and attachment — submission closes the observation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ListOpenObservations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ListOpenObservations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4-perform-moda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Bulk Download — Dialog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Enter one or more comma-separated Audit Numbers to generate the Excel template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ListOpenObservations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ListOpenObservations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5-bulk-download-moda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Bulk Upload — Dialog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completed system-generated Excel for validation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ListOpenObservations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ListOpenObservations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6-bulk-upload-moda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Bulk Upload — Summary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Total / Successful / Failed record counts, with a downloadable error report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ListOpenObservations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ListOpenObservations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7-bulk-upload-summar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6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40080" y="640080"/>
            <a:ext cx="457200" cy="457200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3" name="Text 1"/>
          <p:cNvSpPr/>
          <p:nvPr/>
        </p:nvSpPr>
        <p:spPr>
          <a:xfrm>
            <a:off x="1234440" y="566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Closed Observations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Screen mock-up set — role-based closed observation grid, the read-only View dialog, the Reopen workflow, and the multi-cycle Audit Trail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EC400"/>
          </a:solidFill>
          <a:ln/>
        </p:spPr>
      </p:sp>
      <p:sp>
        <p:nvSpPr>
          <p:cNvPr id="7" name="Text 5">
            <a:hlinkClick r:id="rId3" tooltip="Open Finarya_ListClosedObservations_Prototype.html"/>
          </p:cNvPr>
          <p:cNvSpPr/>
          <p:nvPr/>
        </p:nvSpPr>
        <p:spPr>
          <a:xfrm>
            <a:off x="822960" y="41605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sng" strike="noStrike" kern="1200" cap="none" spc="0" normalizeH="0" baseline="0" noProof="0">
                <a:ln>
                  <a:noFill/>
                </a:ln>
                <a:solidFill>
                  <a:srgbClr val="016EB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ListClosedObservations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HTML prototype ↗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AFC6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Keep this PPTX and Finarya_ListClosedObservations_Prototype.html in the same folder for the link above to open correctly.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AFC6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Brand colours used: #016EBA · #1375BE · #FEC400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Closed Observations — Administrator / Audit Manager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View + Reopen actions available; branch filter scoped to role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ListClosedObservations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ListClosedObservations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1-list-manag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Closed Observations — Auditor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View only — Reopen is not available to the Auditor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ListClosedObservations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ListClosedObservations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2-list-audito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View Observation — Dialog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Read-only popup including Observation Closure Date and attachments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ListClosedObservations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ListClosedObservations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3-view-moda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Reopen Observation — Dialog (Administrator / Audit Manager only)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Mandatory Reopen Comments and optional attachment before the observation moves back to Open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ListClosedObservations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ListClosedObservations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4-reopen-moda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View Observation — with Audit Trail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record of every reopen / closure cycle for observations reopened before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ListClosedObservations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ListClosedObservations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5-view-audit-trail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6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40080" y="640080"/>
            <a:ext cx="457200" cy="457200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3" name="Text 1"/>
          <p:cNvSpPr/>
          <p:nvPr/>
        </p:nvSpPr>
        <p:spPr>
          <a:xfrm>
            <a:off x="1234440" y="566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All Entities</a:t>
            </a: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Screen mock-up set — Administrator-only view of every configured branch, ticket-based layout, in Populated, Search and Empty states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5120640" cy="566928"/>
          </a:xfrm>
          <a:prstGeom prst="roundRect">
            <a:avLst>
              <a:gd name="adj" fmla="val 19355"/>
            </a:avLst>
          </a:prstGeom>
          <a:solidFill>
            <a:srgbClr val="FEC400"/>
          </a:solidFill>
          <a:ln/>
        </p:spPr>
      </p:sp>
      <p:sp>
        <p:nvSpPr>
          <p:cNvPr id="7" name="Text 5">
            <a:hlinkClick r:id="rId3" tooltip="Open Finarya_ListAllEntities_Prototype.html"/>
          </p:cNvPr>
          <p:cNvSpPr/>
          <p:nvPr/>
        </p:nvSpPr>
        <p:spPr>
          <a:xfrm>
            <a:off x="822960" y="42062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sng" strike="noStrike" kern="1200" cap="none" spc="0" normalizeH="0" baseline="0" noProof="0">
                <a:ln>
                  <a:noFill/>
                </a:ln>
                <a:solidFill>
                  <a:srgbClr val="016EB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ListAllEntities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HTML prototype ↗</a:t>
            </a: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AFC6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Keep this PPTX and Finarya_ListAllEntities_Prototype.html in the same folder for the link above to open correctly.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AFC6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Brand colours used: #016EBA · #1375BE · #FEC400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All Entities — Populated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 configured branches, ticket-based layout — Review Audit only, no Perform Audit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ListAllEntities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ListAllEntities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1-populat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All Entities — Search Active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Live filter across Branch Code, Branch Name and Branch Address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ListAllEntities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ListAllEntities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2-search-activ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16EBA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11480" y="219456"/>
            <a:ext cx="310896" cy="310896"/>
          </a:xfrm>
          <a:prstGeom prst="ellipse">
            <a:avLst/>
          </a:prstGeom>
          <a:solidFill>
            <a:srgbClr val="FEC40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92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0" y="9144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List All Entities — Empty State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0" y="4023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D7E8F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branches configured in the system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656539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Finarya — Reimagine Governance</a:t>
            </a:r>
            <a:endParaRPr kumimoji="0" lang="en-US" sz="8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hlinkClick r:id="rId3" tooltip="Open Finarya_ListAllEntities_Prototype.html"/>
          </p:cNvPr>
          <p:cNvSpPr/>
          <p:nvPr/>
        </p:nvSpPr>
        <p:spPr>
          <a:xfrm>
            <a:off x="8257032" y="6565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sng" strike="noStrike" kern="1200" cap="none" spc="0" normalizeH="0" baseline="0" noProof="0">
                <a:ln>
                  <a:noFill/>
                </a:ln>
                <a:solidFill>
                  <a:srgbClr val="1375B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Finarya_ListAllEntities_Prototype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interactive prototype ↗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548872" y="6565392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5A6B8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0" descr="shots/03-empty-stat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19456" y="923544"/>
            <a:ext cx="11750040" cy="5532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43</Slides>
  <Notes>43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45" baseType="lpstr">
      <vt:lpstr>1_Office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Amol Inamdar</dc:creator>
  <cp:revision>3</cp:revision>
  <dcterms:created xsi:type="dcterms:W3CDTF">2026-08-11T09:05:36Z</dcterms:created>
  <dcterms:modified xsi:type="dcterms:W3CDTF">2026-08-20T06:19:24Z</dcterms:modified>
</cp:coreProperties>
</file>